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  <p:sldMasterId id="2147483672" r:id="rId2"/>
  </p:sldMasterIdLst>
  <p:notesMasterIdLst>
    <p:notesMasterId r:id="rId21"/>
  </p:notesMasterIdLst>
  <p:sldIdLst>
    <p:sldId id="256" r:id="rId3"/>
    <p:sldId id="258" r:id="rId4"/>
    <p:sldId id="257" r:id="rId5"/>
    <p:sldId id="269" r:id="rId6"/>
    <p:sldId id="270" r:id="rId7"/>
    <p:sldId id="259" r:id="rId8"/>
    <p:sldId id="260" r:id="rId9"/>
    <p:sldId id="271" r:id="rId10"/>
    <p:sldId id="273" r:id="rId11"/>
    <p:sldId id="274" r:id="rId12"/>
    <p:sldId id="275" r:id="rId13"/>
    <p:sldId id="272" r:id="rId14"/>
    <p:sldId id="263" r:id="rId15"/>
    <p:sldId id="264" r:id="rId16"/>
    <p:sldId id="265" r:id="rId17"/>
    <p:sldId id="266" r:id="rId18"/>
    <p:sldId id="268" r:id="rId19"/>
    <p:sldId id="26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27ec4cdbb_4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2" name="Google Shape;122;g3b27ec4cdbb_4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g3b27ec4cdbb_4_70:notes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b27ec4cdbb_4_70:notes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1-59</a:t>
            </a:r>
            <a:endParaRPr/>
          </a:p>
        </p:txBody>
      </p:sp>
      <p:sp>
        <p:nvSpPr>
          <p:cNvPr id="125" name="Google Shape;125;g3b27ec4cdbb_4_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GB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27ec4cdbb_4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g3b27ec4cdbb_4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7ec4cdbb_4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g3b27ec4cdbb_4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EC75FBB-13A0-CA47-EF55-E463CEB81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7ec4cdbb_4_93:notes">
            <a:extLst>
              <a:ext uri="{FF2B5EF4-FFF2-40B4-BE49-F238E27FC236}">
                <a16:creationId xmlns:a16="http://schemas.microsoft.com/office/drawing/2014/main" id="{0D7E79EF-C9B1-C1B1-0AE2-F5F2B950AD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g3b27ec4cdbb_4_93:notes">
            <a:extLst>
              <a:ext uri="{FF2B5EF4-FFF2-40B4-BE49-F238E27FC236}">
                <a16:creationId xmlns:a16="http://schemas.microsoft.com/office/drawing/2014/main" id="{DCD63B6A-EB0A-3E7B-2C18-8AC754C2F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949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D307436-AEED-6E75-CF49-6CE754EE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27ec4cdbb_4_93:notes">
            <a:extLst>
              <a:ext uri="{FF2B5EF4-FFF2-40B4-BE49-F238E27FC236}">
                <a16:creationId xmlns:a16="http://schemas.microsoft.com/office/drawing/2014/main" id="{6022A4F4-208B-E5F8-C3C6-EE710EBCA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5" name="Google Shape;135;g3b27ec4cdbb_4_93:notes">
            <a:extLst>
              <a:ext uri="{FF2B5EF4-FFF2-40B4-BE49-F238E27FC236}">
                <a16:creationId xmlns:a16="http://schemas.microsoft.com/office/drawing/2014/main" id="{8009DC1F-3C0E-85AD-61CF-9C52619C39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7910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27ec4cdbb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9" name="Google Shape;149;g3b27ec4cdbb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7ec4cdbb_4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g3b27ec4cdbb_4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2F64BD9E-CDE8-7482-1BEC-102984A08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7ec4cdbb_4_107:notes">
            <a:extLst>
              <a:ext uri="{FF2B5EF4-FFF2-40B4-BE49-F238E27FC236}">
                <a16:creationId xmlns:a16="http://schemas.microsoft.com/office/drawing/2014/main" id="{09B8A43D-04BB-88E9-1716-1F7A010FD3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g3b27ec4cdbb_4_107:notes">
            <a:extLst>
              <a:ext uri="{FF2B5EF4-FFF2-40B4-BE49-F238E27FC236}">
                <a16:creationId xmlns:a16="http://schemas.microsoft.com/office/drawing/2014/main" id="{178D21B1-7A17-2E46-4C7F-90F1504572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2056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82FC8304-1D90-C7E7-E9CA-248E80BB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7ec4cdbb_4_107:notes">
            <a:extLst>
              <a:ext uri="{FF2B5EF4-FFF2-40B4-BE49-F238E27FC236}">
                <a16:creationId xmlns:a16="http://schemas.microsoft.com/office/drawing/2014/main" id="{524EAC42-30B1-F738-5D07-4B2EAFE06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g3b27ec4cdbb_4_107:notes">
            <a:extLst>
              <a:ext uri="{FF2B5EF4-FFF2-40B4-BE49-F238E27FC236}">
                <a16:creationId xmlns:a16="http://schemas.microsoft.com/office/drawing/2014/main" id="{183CB1B8-6B9B-F1E5-B920-D53CB08E2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8982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A28A8AB9-7A53-93D4-C32E-802EEA05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7ec4cdbb_4_107:notes">
            <a:extLst>
              <a:ext uri="{FF2B5EF4-FFF2-40B4-BE49-F238E27FC236}">
                <a16:creationId xmlns:a16="http://schemas.microsoft.com/office/drawing/2014/main" id="{F8A5621D-962C-6252-978A-A34598FC23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g3b27ec4cdbb_4_107:notes">
            <a:extLst>
              <a:ext uri="{FF2B5EF4-FFF2-40B4-BE49-F238E27FC236}">
                <a16:creationId xmlns:a16="http://schemas.microsoft.com/office/drawing/2014/main" id="{C7A47147-C274-74AD-45C6-3AA584919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9042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DF61C40E-5F5C-FFDE-DCCD-BC3A1AA97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b27ec4cdbb_4_107:notes">
            <a:extLst>
              <a:ext uri="{FF2B5EF4-FFF2-40B4-BE49-F238E27FC236}">
                <a16:creationId xmlns:a16="http://schemas.microsoft.com/office/drawing/2014/main" id="{65A414CE-DFFB-074B-0F96-18519537F9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7388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57" name="Google Shape;157;g3b27ec4cdbb_4_107:notes">
            <a:extLst>
              <a:ext uri="{FF2B5EF4-FFF2-40B4-BE49-F238E27FC236}">
                <a16:creationId xmlns:a16="http://schemas.microsoft.com/office/drawing/2014/main" id="{0E8DD28E-0F67-53F7-034B-CA95D3E13D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247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>
          <a:extLst>
            <a:ext uri="{FF2B5EF4-FFF2-40B4-BE49-F238E27FC236}">
              <a16:creationId xmlns:a16="http://schemas.microsoft.com/office/drawing/2014/main" id="{766AA341-C4F3-28EC-FB0F-C83C6E5A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281e8fe5b_0_0:notes">
            <a:extLst>
              <a:ext uri="{FF2B5EF4-FFF2-40B4-BE49-F238E27FC236}">
                <a16:creationId xmlns:a16="http://schemas.microsoft.com/office/drawing/2014/main" id="{AA577C8D-BE7D-10C4-D7BC-C868D3BA48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g3b281e8fe5b_0_0:notes">
            <a:extLst>
              <a:ext uri="{FF2B5EF4-FFF2-40B4-BE49-F238E27FC236}">
                <a16:creationId xmlns:a16="http://schemas.microsoft.com/office/drawing/2014/main" id="{C785A2D6-3F50-ED4E-DDCA-113E5DA74F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44602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281e8fe5b_0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b281e8fe5b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281e8fe5b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g3b281e8fe5b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281e8fe5b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g3b281e8fe5b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281e8fe5b_0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b281e8fe5b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710EAE73-8369-0513-D342-2AACF94A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b281e8fe5b_0_25:notes">
            <a:extLst>
              <a:ext uri="{FF2B5EF4-FFF2-40B4-BE49-F238E27FC236}">
                <a16:creationId xmlns:a16="http://schemas.microsoft.com/office/drawing/2014/main" id="{EC9AEFE7-B51F-C763-2CF6-5DCB7AE86B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3b281e8fe5b_0_25:notes">
            <a:extLst>
              <a:ext uri="{FF2B5EF4-FFF2-40B4-BE49-F238E27FC236}">
                <a16:creationId xmlns:a16="http://schemas.microsoft.com/office/drawing/2014/main" id="{45FA44DF-8479-FA6D-0C67-169BBDB1D3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68826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27ec4cdbb_4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5" name="Google Shape;205;g3b27ec4cdbb_4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457200" y="1391436"/>
            <a:ext cx="4040188" cy="494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0" rIns="34275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4645026" y="1394819"/>
            <a:ext cx="4041775" cy="491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0" rIns="34275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8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200" b="1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body" idx="3"/>
          </p:nvPr>
        </p:nvSpPr>
        <p:spPr>
          <a:xfrm>
            <a:off x="457200" y="1885950"/>
            <a:ext cx="4040188" cy="288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⮚"/>
              <a:defRPr sz="17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⮚"/>
              <a:defRPr sz="15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⮚"/>
              <a:defRPr sz="12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⮚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4"/>
          </p:nvPr>
        </p:nvSpPr>
        <p:spPr>
          <a:xfrm>
            <a:off x="4645026" y="1885950"/>
            <a:ext cx="4041775" cy="288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L="457200" lvl="0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Char char="⮚"/>
              <a:defRPr sz="1700"/>
            </a:lvl1pPr>
            <a:lvl2pPr marL="914400" lvl="1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⮚"/>
              <a:defRPr sz="1500"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⮚"/>
              <a:defRPr sz="12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⮚"/>
              <a:defRPr sz="12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ctrTitle"/>
          </p:nvPr>
        </p:nvSpPr>
        <p:spPr>
          <a:xfrm>
            <a:off x="533400" y="1028700"/>
            <a:ext cx="785164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3700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4200"/>
              <a:buFont typeface="Arial"/>
              <a:buNone/>
              <a:defRPr sz="4200" b="1">
                <a:solidFill>
                  <a:srgbClr val="4CE0E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1"/>
          </p:nvPr>
        </p:nvSpPr>
        <p:spPr>
          <a:xfrm>
            <a:off x="533400" y="2421402"/>
            <a:ext cx="7854696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13700" bIns="34275" anchor="t" anchorCtr="0">
            <a:noAutofit/>
          </a:bodyPr>
          <a:lstStyle>
            <a:lvl1pPr marR="38100" lv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1"/>
          </p:nvPr>
        </p:nvSpPr>
        <p:spPr>
          <a:xfrm>
            <a:off x="457200" y="1451373"/>
            <a:ext cx="8229600" cy="3292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3pPr>
            <a:lvl4pPr marL="1828800" lvl="3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4pPr>
            <a:lvl5pPr marL="2286000" lvl="4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title"/>
          </p:nvPr>
        </p:nvSpPr>
        <p:spPr>
          <a:xfrm>
            <a:off x="530352" y="987552"/>
            <a:ext cx="7772400" cy="1021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4200"/>
              <a:buFont typeface="Arial"/>
              <a:buNone/>
              <a:defRPr sz="4200" b="1" cap="none">
                <a:solidFill>
                  <a:srgbClr val="4AE3AC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530352" y="2028498"/>
            <a:ext cx="7772400" cy="1132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7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>
            <a:off x="457200" y="528066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457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 sz="18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⮚"/>
              <a:defRPr sz="1500"/>
            </a:lvl3pPr>
            <a:lvl4pPr marL="1828800" lvl="3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4pPr>
            <a:lvl5pPr marL="2286000" lvl="4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2"/>
          </p:nvPr>
        </p:nvSpPr>
        <p:spPr>
          <a:xfrm>
            <a:off x="4648200" y="1440064"/>
            <a:ext cx="4038600" cy="3326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1pPr>
            <a:lvl2pPr marL="914400" lvl="1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 sz="18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⮚"/>
              <a:defRPr sz="1500"/>
            </a:lvl3pPr>
            <a:lvl4pPr marL="1828800" lvl="3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4pPr>
            <a:lvl5pPr marL="2286000" lvl="4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 txBox="1">
            <a:spLocks noGrp="1"/>
          </p:cNvSpPr>
          <p:nvPr>
            <p:ph type="title"/>
          </p:nvPr>
        </p:nvSpPr>
        <p:spPr>
          <a:xfrm>
            <a:off x="457200" y="528066"/>
            <a:ext cx="8305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  <a:defRPr sz="38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>
            <a:off x="685800" y="385764"/>
            <a:ext cx="2743200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1"/>
          </p:nvPr>
        </p:nvSpPr>
        <p:spPr>
          <a:xfrm>
            <a:off x="685800" y="1257300"/>
            <a:ext cx="27432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00" tIns="34275" rIns="13700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2"/>
          </p:nvPr>
        </p:nvSpPr>
        <p:spPr>
          <a:xfrm>
            <a:off x="3575050" y="1257300"/>
            <a:ext cx="511175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0" rIns="68575" bIns="34275" anchor="t" anchorCtr="0">
            <a:noAutofit/>
          </a:bodyPr>
          <a:lstStyle>
            <a:lvl1pPr marL="457200" lvl="0" indent="-3365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Char char="⮚"/>
              <a:defRPr sz="21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175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⮚"/>
              <a:defRPr sz="1800"/>
            </a:lvl3pPr>
            <a:lvl4pPr marL="1828800" lvl="3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⮚"/>
              <a:defRPr sz="1500"/>
            </a:lvl4pPr>
            <a:lvl5pPr marL="2286000" lvl="4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 sz="14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/>
          <p:nvPr/>
        </p:nvSpPr>
        <p:spPr>
          <a:xfrm rot="-10380000" flipH="1">
            <a:off x="3165475" y="831056"/>
            <a:ext cx="5257800" cy="30861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2"/>
          <p:cNvSpPr/>
          <p:nvPr/>
        </p:nvSpPr>
        <p:spPr>
          <a:xfrm rot="-10380000" flipH="1">
            <a:off x="8004175" y="4019551"/>
            <a:ext cx="155575" cy="116681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/>
          <p:nvPr/>
        </p:nvSpPr>
        <p:spPr>
          <a:xfrm rot="10800000" flipH="1">
            <a:off x="-9525" y="4362450"/>
            <a:ext cx="9163050" cy="78105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2"/>
          <p:cNvSpPr/>
          <p:nvPr/>
        </p:nvSpPr>
        <p:spPr>
          <a:xfrm rot="10800000" flipH="1">
            <a:off x="4381500" y="4664870"/>
            <a:ext cx="4762500" cy="478631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 txBox="1">
            <a:spLocks noGrp="1"/>
          </p:cNvSpPr>
          <p:nvPr>
            <p:ph type="title"/>
          </p:nvPr>
        </p:nvSpPr>
        <p:spPr>
          <a:xfrm>
            <a:off x="609600" y="882748"/>
            <a:ext cx="2212848" cy="1186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34275" rIns="342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sz="15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body" idx="1"/>
          </p:nvPr>
        </p:nvSpPr>
        <p:spPr>
          <a:xfrm>
            <a:off x="609600" y="2121589"/>
            <a:ext cx="2209800" cy="1634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34275" rIns="342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000"/>
            </a:lvl1pPr>
            <a:lvl2pPr marL="914400" lvl="1" indent="-2730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Char char="⮚"/>
              <a:defRPr sz="900"/>
            </a:lvl2pPr>
            <a:lvl3pPr marL="1371600" lvl="2" indent="-2667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600"/>
              <a:buChar char="⮚"/>
              <a:defRPr sz="800"/>
            </a:lvl3pPr>
            <a:lvl4pPr marL="1828800" lvl="3" indent="-2603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Char char="⮚"/>
              <a:defRPr sz="700"/>
            </a:lvl4pPr>
            <a:lvl5pPr marL="2286000" lvl="4" indent="-26035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Char char="⮚"/>
              <a:defRPr sz="700"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>
            <a:spLocks noGrp="1"/>
          </p:cNvSpPr>
          <p:nvPr>
            <p:ph type="pic" idx="2"/>
          </p:nvPr>
        </p:nvSpPr>
        <p:spPr>
          <a:xfrm rot="420000">
            <a:off x="3485793" y="899638"/>
            <a:ext cx="4617720" cy="294894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22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body" idx="1"/>
          </p:nvPr>
        </p:nvSpPr>
        <p:spPr>
          <a:xfrm rot="5400000">
            <a:off x="2925962" y="-1017388"/>
            <a:ext cx="3292078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3pPr>
            <a:lvl4pPr marL="1828800" lvl="3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4pPr>
            <a:lvl5pPr marL="2286000" lvl="4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3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>
            <a:spLocks noGrp="1"/>
          </p:cNvSpPr>
          <p:nvPr>
            <p:ph type="title"/>
          </p:nvPr>
        </p:nvSpPr>
        <p:spPr>
          <a:xfrm rot="5400000">
            <a:off x="5703689" y="1611513"/>
            <a:ext cx="3908822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1"/>
          </p:nvPr>
        </p:nvSpPr>
        <p:spPr>
          <a:xfrm rot="5400000">
            <a:off x="1512689" y="-369688"/>
            <a:ext cx="3908822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2pPr>
            <a:lvl3pPr marL="1371600" lvl="2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3pPr>
            <a:lvl4pPr marL="1828800" lvl="3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4pPr>
            <a:lvl5pPr marL="2286000" lvl="4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Char char="⮚"/>
              <a:defRPr/>
            </a:lvl5pPr>
            <a:lvl6pPr marL="2743200" lvl="5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6pPr>
            <a:lvl7pPr marL="3200400" lvl="6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⚫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5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5"/>
          <p:cNvSpPr txBox="1">
            <a:spLocks noGrp="1"/>
          </p:cNvSpPr>
          <p:nvPr>
            <p:ph type="ftr" idx="11"/>
          </p:nvPr>
        </p:nvSpPr>
        <p:spPr>
          <a:xfrm>
            <a:off x="7239000" y="4857750"/>
            <a:ext cx="14478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52863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3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451373"/>
            <a:ext cx="8229600" cy="3292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⮚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Noto Sans Symbols"/>
              <a:buChar char="⚫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Noto Sans Symbols"/>
              <a:buChar char="⚫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title"/>
          </p:nvPr>
        </p:nvSpPr>
        <p:spPr>
          <a:xfrm>
            <a:off x="2860200" y="211669"/>
            <a:ext cx="6064500" cy="12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36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for VFC Agro Foods</a:t>
            </a:r>
            <a:endParaRPr sz="3600" b="1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26"/>
          <p:cNvSpPr txBox="1">
            <a:spLocks noGrp="1"/>
          </p:cNvSpPr>
          <p:nvPr>
            <p:ph type="body" idx="1"/>
          </p:nvPr>
        </p:nvSpPr>
        <p:spPr>
          <a:xfrm>
            <a:off x="1104385" y="1590760"/>
            <a:ext cx="3030075" cy="4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4275" tIns="0" rIns="3427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None/>
            </a:pPr>
            <a:endParaRPr sz="24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B9077E"/>
              </a:buClr>
              <a:buSzPts val="1900"/>
              <a:buNone/>
            </a:pPr>
            <a:r>
              <a:rPr lang="en-GB" sz="2400">
                <a:solidFill>
                  <a:srgbClr val="B9077E"/>
                </a:solidFill>
              </a:rPr>
              <a:t>    </a:t>
            </a:r>
            <a:endParaRPr sz="2400"/>
          </a:p>
        </p:txBody>
      </p:sp>
      <p:pic>
        <p:nvPicPr>
          <p:cNvPr id="129" name="Google Shape;129;p26" descr="klogo copy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15138" y="1192134"/>
            <a:ext cx="1031081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 descr="kec2blackborder png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894" y="3310281"/>
            <a:ext cx="1109663" cy="13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/>
          <p:nvPr/>
        </p:nvSpPr>
        <p:spPr>
          <a:xfrm>
            <a:off x="3478916" y="2256230"/>
            <a:ext cx="530664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GB" sz="13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 sz="13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1" i="0" u="none" strike="noStrike" cap="none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3265004" y="2084860"/>
            <a:ext cx="5659800" cy="26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MEMBERS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ROHANTH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R B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- 23ITR1</a:t>
            </a: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33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	</a:t>
            </a: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RIETHURAM A K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- 23ITR1</a:t>
            </a:r>
            <a:r>
              <a:rPr lang="en-GB" b="1" dirty="0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       (19ITR014) 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</a:t>
            </a:r>
            <a:r>
              <a:rPr lang="en-GB" b="1" dirty="0" err="1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GB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.VARADHAGANAPATHY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Professor/Department of IT</a:t>
            </a:r>
            <a:endParaRPr sz="11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Kongu</a:t>
            </a:r>
            <a:r>
              <a:rPr lang="en-GB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Engineering College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1848678" y="365263"/>
            <a:ext cx="5695122" cy="530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DETAILS</a:t>
            </a:r>
            <a:endParaRPr sz="30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28"/>
          <p:cNvSpPr txBox="1"/>
          <p:nvPr/>
        </p:nvSpPr>
        <p:spPr>
          <a:xfrm>
            <a:off x="1229968" y="1140515"/>
            <a:ext cx="7484100" cy="294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Name      : 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VFC 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Agro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Food Products 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Pvt.Ltd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dirty="0">
                <a:latin typeface="Times New Roman"/>
                <a:ea typeface="Times New Roman"/>
                <a:cs typeface="Times New Roman"/>
                <a:sym typeface="Times New Roman"/>
              </a:rPr>
              <a:t>Managing Director</a:t>
            </a: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:</a:t>
            </a:r>
            <a:r>
              <a:rPr lang="en-GB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Mr.P.</a:t>
            </a:r>
            <a:r>
              <a:rPr lang="en-GB" sz="17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Suresh</a:t>
            </a:r>
            <a:r>
              <a:rPr lang="en-GB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Balaji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Address                   :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1048/3B9 , 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pathanikadai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pirivu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, 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Nochiodapatti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Post , 			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Adiyanoothu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 Village , </a:t>
            </a:r>
            <a:r>
              <a:rPr lang="en-GB" sz="1700" dirty="0" err="1">
                <a:latin typeface="Times New Roman"/>
                <a:ea typeface="Times New Roman"/>
                <a:cs typeface="Times New Roman"/>
                <a:sym typeface="Times New Roman"/>
              </a:rPr>
              <a:t>Dindigul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 - 624 003.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endParaRPr sz="17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                   : </a:t>
            </a:r>
            <a:endParaRPr lang="en-GB" sz="1100" dirty="0">
              <a:ea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sz="1700" b="1" dirty="0">
                <a:latin typeface="Times New Roman"/>
                <a:ea typeface="Times New Roman"/>
                <a:cs typeface="Times New Roman"/>
                <a:sym typeface="Times New Roman"/>
              </a:rPr>
              <a:t>	  </a:t>
            </a: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 no: </a:t>
            </a:r>
            <a:r>
              <a:rPr lang="en-GB" sz="17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+91 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90800 64455</a:t>
            </a: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lang="en-GB" sz="17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  Email:</a:t>
            </a:r>
            <a:r>
              <a:rPr lang="en-GB" sz="1700" b="1" dirty="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GB" sz="1700" dirty="0">
                <a:latin typeface="Times New Roman"/>
                <a:ea typeface="Times New Roman"/>
                <a:cs typeface="Times New Roman"/>
                <a:sym typeface="Times New Roman"/>
              </a:rPr>
              <a:t>vfcagrofoods@gmail.com</a:t>
            </a:r>
            <a:endParaRPr sz="11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2937510" y="377880"/>
            <a:ext cx="3268980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100"/>
          </a:p>
        </p:txBody>
      </p:sp>
      <p:sp>
        <p:nvSpPr>
          <p:cNvPr id="138" name="Google Shape;138;p27"/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4343400" y="4786313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7"/>
          <p:cNvSpPr/>
          <p:nvPr/>
        </p:nvSpPr>
        <p:spPr>
          <a:xfrm flipH="1">
            <a:off x="942575" y="1424850"/>
            <a:ext cx="7526400" cy="29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and develop a professional static website for </a:t>
            </a:r>
            <a:r>
              <a:rPr lang="en-GB" sz="17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VFC Agro Food Products Pvt. Ltd</a:t>
            </a: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HTML, CSS &amp; JavaScript.</a:t>
            </a:r>
            <a:b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Showcase 10+ soft drink varieties with clear product presentation and branding.</a:t>
            </a:r>
            <a:b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online visibility and provide a platform for product information.</a:t>
            </a:r>
            <a:b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responsive and user-friendly layout accessible across devices.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FC1C915-1CC0-AD71-ED8A-0279DF2C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>
            <a:extLst>
              <a:ext uri="{FF2B5EF4-FFF2-40B4-BE49-F238E27FC236}">
                <a16:creationId xmlns:a16="http://schemas.microsoft.com/office/drawing/2014/main" id="{74E7F7C4-AF34-13F6-3613-BF4ABD9DBF04}"/>
              </a:ext>
            </a:extLst>
          </p:cNvPr>
          <p:cNvSpPr/>
          <p:nvPr/>
        </p:nvSpPr>
        <p:spPr>
          <a:xfrm>
            <a:off x="2602654" y="4285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Purpose of the Project</a:t>
            </a:r>
            <a:endParaRPr sz="1100" dirty="0"/>
          </a:p>
        </p:txBody>
      </p:sp>
      <p:sp>
        <p:nvSpPr>
          <p:cNvPr id="138" name="Google Shape;138;p27">
            <a:extLst>
              <a:ext uri="{FF2B5EF4-FFF2-40B4-BE49-F238E27FC236}">
                <a16:creationId xmlns:a16="http://schemas.microsoft.com/office/drawing/2014/main" id="{0D7BC27E-75DD-2079-2869-D078F4E53A12}"/>
              </a:ext>
            </a:extLst>
          </p:cNvPr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7">
            <a:extLst>
              <a:ext uri="{FF2B5EF4-FFF2-40B4-BE49-F238E27FC236}">
                <a16:creationId xmlns:a16="http://schemas.microsoft.com/office/drawing/2014/main" id="{229E3C26-9975-D04B-C969-9C725C8095A3}"/>
              </a:ext>
            </a:extLst>
          </p:cNvPr>
          <p:cNvSpPr txBox="1"/>
          <p:nvPr/>
        </p:nvSpPr>
        <p:spPr>
          <a:xfrm>
            <a:off x="4343400" y="4786313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7">
            <a:extLst>
              <a:ext uri="{FF2B5EF4-FFF2-40B4-BE49-F238E27FC236}">
                <a16:creationId xmlns:a16="http://schemas.microsoft.com/office/drawing/2014/main" id="{ED01022F-7D6D-90C9-8666-EA56D21429CC}"/>
              </a:ext>
            </a:extLst>
          </p:cNvPr>
          <p:cNvSpPr/>
          <p:nvPr/>
        </p:nvSpPr>
        <p:spPr>
          <a:xfrm flipH="1">
            <a:off x="1146682" y="959476"/>
            <a:ext cx="7526400" cy="29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Establish online presence for the beverage manufacturing company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Showcase product range and company information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customer contact and inquiry functionality</a:t>
            </a:r>
          </a:p>
          <a:p>
            <a:pPr marL="457200" lvl="0" indent="-3365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brand credibility and trust</a:t>
            </a:r>
          </a:p>
        </p:txBody>
      </p:sp>
    </p:spTree>
    <p:extLst>
      <p:ext uri="{BB962C8B-B14F-4D97-AF65-F5344CB8AC3E}">
        <p14:creationId xmlns:p14="http://schemas.microsoft.com/office/powerpoint/2010/main" val="128244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606A257-1C60-D2D7-F6DF-768101E70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>
            <a:extLst>
              <a:ext uri="{FF2B5EF4-FFF2-40B4-BE49-F238E27FC236}">
                <a16:creationId xmlns:a16="http://schemas.microsoft.com/office/drawing/2014/main" id="{93B6BA06-B7AB-80FB-E6A7-EAFCD3AB46F2}"/>
              </a:ext>
            </a:extLst>
          </p:cNvPr>
          <p:cNvSpPr/>
          <p:nvPr/>
        </p:nvSpPr>
        <p:spPr>
          <a:xfrm>
            <a:off x="2126355" y="361551"/>
            <a:ext cx="527576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GB" sz="1100" dirty="0"/>
          </a:p>
        </p:txBody>
      </p:sp>
      <p:sp>
        <p:nvSpPr>
          <p:cNvPr id="138" name="Google Shape;138;p27">
            <a:extLst>
              <a:ext uri="{FF2B5EF4-FFF2-40B4-BE49-F238E27FC236}">
                <a16:creationId xmlns:a16="http://schemas.microsoft.com/office/drawing/2014/main" id="{67E39FF4-84A2-926A-0769-199F51B9F885}"/>
              </a:ext>
            </a:extLst>
          </p:cNvPr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27">
            <a:extLst>
              <a:ext uri="{FF2B5EF4-FFF2-40B4-BE49-F238E27FC236}">
                <a16:creationId xmlns:a16="http://schemas.microsoft.com/office/drawing/2014/main" id="{D51A025F-0D30-5FB6-F367-2B1D8683AF0E}"/>
              </a:ext>
            </a:extLst>
          </p:cNvPr>
          <p:cNvSpPr txBox="1"/>
          <p:nvPr/>
        </p:nvSpPr>
        <p:spPr>
          <a:xfrm>
            <a:off x="4343400" y="4786313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7">
            <a:extLst>
              <a:ext uri="{FF2B5EF4-FFF2-40B4-BE49-F238E27FC236}">
                <a16:creationId xmlns:a16="http://schemas.microsoft.com/office/drawing/2014/main" id="{F8BDA52A-4B70-BD2E-91B6-71590D1312D9}"/>
              </a:ext>
            </a:extLst>
          </p:cNvPr>
          <p:cNvSpPr/>
          <p:nvPr/>
        </p:nvSpPr>
        <p:spPr>
          <a:xfrm flipH="1">
            <a:off x="1090842" y="1358574"/>
            <a:ext cx="7526400" cy="29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Server Dependencies:</a:t>
            </a:r>
          </a:p>
          <a:p>
            <a:pPr lvl="4">
              <a:lnSpc>
                <a:spcPct val="150000"/>
              </a:lnSpc>
            </a:pPr>
            <a:r>
              <a:rPr lang="en-IN" sz="9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	</a:t>
            </a: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lvl="4">
              <a:lnSpc>
                <a:spcPct val="150000"/>
              </a:lnSpc>
            </a:pP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  "express": "^4.x.x",</a:t>
            </a:r>
          </a:p>
          <a:p>
            <a:pPr lvl="4">
              <a:lnSpc>
                <a:spcPct val="150000"/>
              </a:lnSpc>
            </a:pP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  "</a:t>
            </a:r>
            <a:r>
              <a:rPr lang="en-IN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nodemailer</a:t>
            </a: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": "^6.x.x",</a:t>
            </a:r>
          </a:p>
          <a:p>
            <a:pPr lvl="4">
              <a:lnSpc>
                <a:spcPct val="150000"/>
              </a:lnSpc>
            </a:pP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  "</a:t>
            </a:r>
            <a:r>
              <a:rPr lang="en-IN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cors</a:t>
            </a: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": "^2.x.x",</a:t>
            </a:r>
          </a:p>
          <a:p>
            <a:pPr lvl="4">
              <a:lnSpc>
                <a:spcPct val="150000"/>
              </a:lnSpc>
            </a:pP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  "</a:t>
            </a:r>
            <a:r>
              <a:rPr lang="en-IN" sz="1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dotenv</a:t>
            </a: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": "^16.x.x"</a:t>
            </a:r>
          </a:p>
          <a:p>
            <a:pPr lvl="4">
              <a:lnSpc>
                <a:spcPct val="150000"/>
              </a:lnSpc>
            </a:pPr>
            <a:r>
              <a:rPr lang="en-IN" sz="1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	}</a:t>
            </a: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Environment Configuration:</a:t>
            </a:r>
          </a:p>
          <a:p>
            <a:pPr marL="1206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Gmail SMTP credentials</a:t>
            </a:r>
          </a:p>
          <a:p>
            <a:pPr marL="1206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Recipient email address</a:t>
            </a:r>
          </a:p>
          <a:p>
            <a:pPr marL="120650" lvl="1">
              <a:lnSpc>
                <a:spcPct val="150000"/>
              </a:lnSpc>
              <a:buClr>
                <a:schemeClr val="dk1"/>
              </a:buClr>
              <a:buSzPts val="1700"/>
            </a:pPr>
            <a:r>
              <a:rPr lang="en-US" sz="17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App-specific password setup</a:t>
            </a:r>
            <a:endParaRPr lang="en-IN"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2247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/>
          <p:nvPr/>
        </p:nvSpPr>
        <p:spPr>
          <a:xfrm>
            <a:off x="1823353" y="407236"/>
            <a:ext cx="5871917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 sz="3000" b="1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9"/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9"/>
          <p:cNvSpPr txBox="1"/>
          <p:nvPr/>
        </p:nvSpPr>
        <p:spPr>
          <a:xfrm>
            <a:off x="4343400" y="4786313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1014575" y="1001300"/>
            <a:ext cx="7848300" cy="4347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Technologies: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 for semantic structure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CSS3 with modern styling (Flexbox, Grid)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Bootstrap 5 for responsive framework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JavaScript for interactivity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Google Fonts (Poppins) integration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 Technologies: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Node.js runtime environment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Express.js web framework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Nodemailer</a:t>
            </a: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email functionality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CORS middleware for cross-origin requests</a:t>
            </a:r>
          </a:p>
          <a:p>
            <a:pPr lvl="1">
              <a:lnSpc>
                <a:spcPct val="150000"/>
              </a:lnSpc>
            </a:pP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GB" dirty="0" err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dotenv</a:t>
            </a:r>
            <a:r>
              <a:rPr lang="en-GB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environment configuration</a:t>
            </a:r>
            <a:endParaRPr dirty="0">
              <a:solidFill>
                <a:schemeClr val="tx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0"/>
          <p:cNvSpPr txBox="1"/>
          <p:nvPr/>
        </p:nvSpPr>
        <p:spPr>
          <a:xfrm>
            <a:off x="4343400" y="4778858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0"/>
          <p:cNvSpPr txBox="1"/>
          <p:nvPr/>
        </p:nvSpPr>
        <p:spPr>
          <a:xfrm>
            <a:off x="879613" y="1319420"/>
            <a:ext cx="805815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/>
          <p:cNvSpPr/>
          <p:nvPr/>
        </p:nvSpPr>
        <p:spPr>
          <a:xfrm>
            <a:off x="724375" y="901025"/>
            <a:ext cx="8321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0650" lvl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7;p27">
            <a:extLst>
              <a:ext uri="{FF2B5EF4-FFF2-40B4-BE49-F238E27FC236}">
                <a16:creationId xmlns:a16="http://schemas.microsoft.com/office/drawing/2014/main" id="{B0447148-F13B-A827-EA2E-1B3B2EC8C77A}"/>
              </a:ext>
            </a:extLst>
          </p:cNvPr>
          <p:cNvSpPr/>
          <p:nvPr/>
        </p:nvSpPr>
        <p:spPr>
          <a:xfrm>
            <a:off x="2602654" y="4285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Modules</a:t>
            </a:r>
            <a:endParaRPr sz="1100" dirty="0"/>
          </a:p>
        </p:txBody>
      </p:sp>
      <p:sp>
        <p:nvSpPr>
          <p:cNvPr id="3" name="Google Shape;137;p27">
            <a:extLst>
              <a:ext uri="{FF2B5EF4-FFF2-40B4-BE49-F238E27FC236}">
                <a16:creationId xmlns:a16="http://schemas.microsoft.com/office/drawing/2014/main" id="{A2744C66-9BDF-D0A2-0EF6-C31F2F684746}"/>
              </a:ext>
            </a:extLst>
          </p:cNvPr>
          <p:cNvSpPr/>
          <p:nvPr/>
        </p:nvSpPr>
        <p:spPr>
          <a:xfrm>
            <a:off x="2755054" y="5809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D66DA6-F89A-A550-6091-8FF5C77B5C0C}"/>
              </a:ext>
            </a:extLst>
          </p:cNvPr>
          <p:cNvSpPr txBox="1"/>
          <p:nvPr/>
        </p:nvSpPr>
        <p:spPr>
          <a:xfrm>
            <a:off x="1770459" y="959476"/>
            <a:ext cx="5145882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IN" sz="1600" b="1" i="0" dirty="0">
                <a:solidFill>
                  <a:schemeClr val="tx1"/>
                </a:solidFill>
                <a:effectLst/>
                <a:latin typeface="Segoe WPC"/>
              </a:rPr>
              <a:t>Frontend Module</a:t>
            </a:r>
          </a:p>
          <a:p>
            <a:pPr algn="l">
              <a:spcAft>
                <a:spcPts val="1200"/>
              </a:spcAft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Components: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Hero section with video background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About section with company information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Products showcase with interactive cards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Features section with hover effects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Contact form with client-side validation</a:t>
            </a:r>
          </a:p>
          <a:p>
            <a:pPr algn="l"/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>
              <a:spcAft>
                <a:spcPts val="1200"/>
              </a:spcAft>
              <a:buNone/>
            </a:pPr>
            <a:r>
              <a:rPr lang="en-IN" b="1" i="0" dirty="0">
                <a:solidFill>
                  <a:schemeClr val="tx1"/>
                </a:solidFill>
                <a:effectLst/>
                <a:latin typeface="Segoe WPC"/>
              </a:rPr>
              <a:t>Functionality:</a:t>
            </a:r>
            <a:endParaRPr lang="en-IN" b="0" i="0" dirty="0">
              <a:solidFill>
                <a:schemeClr val="tx1"/>
              </a:solidFill>
              <a:effectLst/>
              <a:latin typeface="Segoe WPC"/>
            </a:endParaRPr>
          </a:p>
          <a:p>
            <a:pPr algn="l"/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Responsive design across all devices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Interactive product cards with hover effects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Video background with custom playback speed (0.75x)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Smooth navigation and scroll effects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Client-side form handling with fetch API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/>
                </a:solidFill>
                <a:effectLst/>
                <a:latin typeface="Segoe WPC"/>
              </a:rPr>
              <a:t>Real-time user feedback and status 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02988336-39AC-1C70-F5DE-04F4D75D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>
            <a:extLst>
              <a:ext uri="{FF2B5EF4-FFF2-40B4-BE49-F238E27FC236}">
                <a16:creationId xmlns:a16="http://schemas.microsoft.com/office/drawing/2014/main" id="{AE928A92-63F8-95B2-1549-9327F292A9AF}"/>
              </a:ext>
            </a:extLst>
          </p:cNvPr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0">
            <a:extLst>
              <a:ext uri="{FF2B5EF4-FFF2-40B4-BE49-F238E27FC236}">
                <a16:creationId xmlns:a16="http://schemas.microsoft.com/office/drawing/2014/main" id="{5E1BC04D-0DEC-64D4-0FC0-BA04BD4D5245}"/>
              </a:ext>
            </a:extLst>
          </p:cNvPr>
          <p:cNvSpPr txBox="1"/>
          <p:nvPr/>
        </p:nvSpPr>
        <p:spPr>
          <a:xfrm>
            <a:off x="4343400" y="4778858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0">
            <a:extLst>
              <a:ext uri="{FF2B5EF4-FFF2-40B4-BE49-F238E27FC236}">
                <a16:creationId xmlns:a16="http://schemas.microsoft.com/office/drawing/2014/main" id="{D4CBE944-F2B5-1C78-E6A5-FC598DE4490B}"/>
              </a:ext>
            </a:extLst>
          </p:cNvPr>
          <p:cNvSpPr txBox="1"/>
          <p:nvPr/>
        </p:nvSpPr>
        <p:spPr>
          <a:xfrm>
            <a:off x="879613" y="1319420"/>
            <a:ext cx="805815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>
            <a:extLst>
              <a:ext uri="{FF2B5EF4-FFF2-40B4-BE49-F238E27FC236}">
                <a16:creationId xmlns:a16="http://schemas.microsoft.com/office/drawing/2014/main" id="{4921E196-931B-37D7-F589-41DF39352E5D}"/>
              </a:ext>
            </a:extLst>
          </p:cNvPr>
          <p:cNvSpPr/>
          <p:nvPr/>
        </p:nvSpPr>
        <p:spPr>
          <a:xfrm>
            <a:off x="724375" y="901025"/>
            <a:ext cx="8321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0650" lvl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7;p27">
            <a:extLst>
              <a:ext uri="{FF2B5EF4-FFF2-40B4-BE49-F238E27FC236}">
                <a16:creationId xmlns:a16="http://schemas.microsoft.com/office/drawing/2014/main" id="{B8AF809D-82F9-3C31-4A51-BEC89D6E02DD}"/>
              </a:ext>
            </a:extLst>
          </p:cNvPr>
          <p:cNvSpPr/>
          <p:nvPr/>
        </p:nvSpPr>
        <p:spPr>
          <a:xfrm>
            <a:off x="2602654" y="4285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3" name="Google Shape;137;p27">
            <a:extLst>
              <a:ext uri="{FF2B5EF4-FFF2-40B4-BE49-F238E27FC236}">
                <a16:creationId xmlns:a16="http://schemas.microsoft.com/office/drawing/2014/main" id="{DF3A9BDA-1C0B-9FB5-0FA2-6C543EFCD943}"/>
              </a:ext>
            </a:extLst>
          </p:cNvPr>
          <p:cNvSpPr/>
          <p:nvPr/>
        </p:nvSpPr>
        <p:spPr>
          <a:xfrm>
            <a:off x="2755054" y="5809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D641B-67C8-9187-8894-B707BA771813}"/>
              </a:ext>
            </a:extLst>
          </p:cNvPr>
          <p:cNvSpPr txBox="1"/>
          <p:nvPr/>
        </p:nvSpPr>
        <p:spPr>
          <a:xfrm>
            <a:off x="1651000" y="959476"/>
            <a:ext cx="497840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IN" sz="1600" b="1" dirty="0">
                <a:solidFill>
                  <a:schemeClr val="tx1"/>
                </a:solidFill>
                <a:latin typeface="Segoe WPC"/>
              </a:rPr>
              <a:t>Backend Module</a:t>
            </a:r>
          </a:p>
          <a:p>
            <a:pPr>
              <a:spcAft>
                <a:spcPts val="1200"/>
              </a:spcAft>
            </a:pPr>
            <a:r>
              <a:rPr lang="en-IN" b="1" dirty="0">
                <a:solidFill>
                  <a:schemeClr val="tx1"/>
                </a:solidFill>
                <a:latin typeface="Segoe WPC"/>
              </a:rPr>
              <a:t>Components:</a:t>
            </a:r>
            <a:endParaRPr lang="en-IN" dirty="0">
              <a:solidFill>
                <a:schemeClr val="tx1"/>
              </a:solidFill>
              <a:latin typeface="Segoe WP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Express.js web server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Static file serving middleware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CORS configuration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Email service with </a:t>
            </a:r>
            <a:r>
              <a:rPr lang="en-IN" dirty="0" err="1">
                <a:solidFill>
                  <a:schemeClr val="tx1"/>
                </a:solidFill>
                <a:latin typeface="Segoe WPC"/>
              </a:rPr>
              <a:t>Nodemailer</a:t>
            </a:r>
            <a:endParaRPr lang="en-IN" dirty="0">
              <a:solidFill>
                <a:schemeClr val="tx1"/>
              </a:solidFill>
              <a:latin typeface="Segoe WP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Environment variable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API endpoint for contact form</a:t>
            </a:r>
          </a:p>
          <a:p>
            <a:pPr>
              <a:spcAft>
                <a:spcPts val="1200"/>
              </a:spcAft>
            </a:pPr>
            <a:r>
              <a:rPr lang="en-IN" b="1" dirty="0">
                <a:solidFill>
                  <a:schemeClr val="tx1"/>
                </a:solidFill>
                <a:latin typeface="Segoe WPC"/>
              </a:rPr>
              <a:t>Functionality:</a:t>
            </a:r>
            <a:endParaRPr lang="en-IN" dirty="0">
              <a:solidFill>
                <a:schemeClr val="tx1"/>
              </a:solidFill>
              <a:latin typeface="Segoe WP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Serves frontend files at </a:t>
            </a:r>
            <a:r>
              <a:rPr lang="en-IN" dirty="0">
                <a:solidFill>
                  <a:schemeClr val="tx1"/>
                </a:solidFill>
                <a:latin typeface="Consolas" panose="020B0609020204030204" pitchFamily="49" charset="0"/>
              </a:rPr>
              <a:t>http://localhost:3000</a:t>
            </a:r>
            <a:endParaRPr lang="en-IN" dirty="0">
              <a:solidFill>
                <a:schemeClr val="tx1"/>
              </a:solidFill>
              <a:latin typeface="Segoe WPC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Consolas" panose="020B0609020204030204" pitchFamily="49" charset="0"/>
              </a:rPr>
              <a:t>/send-email</a:t>
            </a:r>
            <a:r>
              <a:rPr lang="en-IN" dirty="0">
                <a:solidFill>
                  <a:schemeClr val="tx1"/>
                </a:solidFill>
                <a:latin typeface="Segoe WPC"/>
              </a:rPr>
              <a:t> API endpoint for form submissions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SMTP email delivery with HTML formatting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Error handling and logging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Security through environment variables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Segoe WPC"/>
              </a:rPr>
              <a:t>Cross-origin request support</a:t>
            </a:r>
          </a:p>
        </p:txBody>
      </p:sp>
    </p:spTree>
    <p:extLst>
      <p:ext uri="{BB962C8B-B14F-4D97-AF65-F5344CB8AC3E}">
        <p14:creationId xmlns:p14="http://schemas.microsoft.com/office/powerpoint/2010/main" val="2181151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703B7651-8EE7-0B83-90D9-907B26E3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>
            <a:extLst>
              <a:ext uri="{FF2B5EF4-FFF2-40B4-BE49-F238E27FC236}">
                <a16:creationId xmlns:a16="http://schemas.microsoft.com/office/drawing/2014/main" id="{4B51CFBA-63F6-8AD2-AFBE-84B86D17F40D}"/>
              </a:ext>
            </a:extLst>
          </p:cNvPr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0">
            <a:extLst>
              <a:ext uri="{FF2B5EF4-FFF2-40B4-BE49-F238E27FC236}">
                <a16:creationId xmlns:a16="http://schemas.microsoft.com/office/drawing/2014/main" id="{09000827-FF1D-588F-206A-0D6310BC60A3}"/>
              </a:ext>
            </a:extLst>
          </p:cNvPr>
          <p:cNvSpPr txBox="1"/>
          <p:nvPr/>
        </p:nvSpPr>
        <p:spPr>
          <a:xfrm>
            <a:off x="4343400" y="4778858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0">
            <a:extLst>
              <a:ext uri="{FF2B5EF4-FFF2-40B4-BE49-F238E27FC236}">
                <a16:creationId xmlns:a16="http://schemas.microsoft.com/office/drawing/2014/main" id="{6C3F2D8C-DD4F-3C51-7869-44EED4AC6138}"/>
              </a:ext>
            </a:extLst>
          </p:cNvPr>
          <p:cNvSpPr txBox="1"/>
          <p:nvPr/>
        </p:nvSpPr>
        <p:spPr>
          <a:xfrm>
            <a:off x="879613" y="1319420"/>
            <a:ext cx="805815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>
            <a:extLst>
              <a:ext uri="{FF2B5EF4-FFF2-40B4-BE49-F238E27FC236}">
                <a16:creationId xmlns:a16="http://schemas.microsoft.com/office/drawing/2014/main" id="{4098F46F-3742-EE51-252A-EAC51C1B0D82}"/>
              </a:ext>
            </a:extLst>
          </p:cNvPr>
          <p:cNvSpPr/>
          <p:nvPr/>
        </p:nvSpPr>
        <p:spPr>
          <a:xfrm>
            <a:off x="724375" y="901025"/>
            <a:ext cx="8321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0650" lvl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7;p27">
            <a:extLst>
              <a:ext uri="{FF2B5EF4-FFF2-40B4-BE49-F238E27FC236}">
                <a16:creationId xmlns:a16="http://schemas.microsoft.com/office/drawing/2014/main" id="{E1C974DE-24DF-CD01-A508-5B4521062E5B}"/>
              </a:ext>
            </a:extLst>
          </p:cNvPr>
          <p:cNvSpPr/>
          <p:nvPr/>
        </p:nvSpPr>
        <p:spPr>
          <a:xfrm>
            <a:off x="2805567" y="20880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 err="1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Usecase</a:t>
            </a:r>
            <a:r>
              <a:rPr lang="en-GB" sz="30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 Diagram</a:t>
            </a:r>
            <a:endParaRPr sz="1100" dirty="0"/>
          </a:p>
        </p:txBody>
      </p:sp>
      <p:sp>
        <p:nvSpPr>
          <p:cNvPr id="3" name="Google Shape;137;p27">
            <a:extLst>
              <a:ext uri="{FF2B5EF4-FFF2-40B4-BE49-F238E27FC236}">
                <a16:creationId xmlns:a16="http://schemas.microsoft.com/office/drawing/2014/main" id="{D84FCB45-5D39-EBD7-9850-60D352110BEE}"/>
              </a:ext>
            </a:extLst>
          </p:cNvPr>
          <p:cNvSpPr/>
          <p:nvPr/>
        </p:nvSpPr>
        <p:spPr>
          <a:xfrm>
            <a:off x="2755054" y="5809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200B3B-58A6-AC2A-7965-247DE2721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534" y="500945"/>
            <a:ext cx="7031092" cy="452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894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1CE555C3-46AA-B972-931E-71B03DD3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>
            <a:extLst>
              <a:ext uri="{FF2B5EF4-FFF2-40B4-BE49-F238E27FC236}">
                <a16:creationId xmlns:a16="http://schemas.microsoft.com/office/drawing/2014/main" id="{8CA0FC62-105F-1212-6854-BBA2F1E5F5AB}"/>
              </a:ext>
            </a:extLst>
          </p:cNvPr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0">
            <a:extLst>
              <a:ext uri="{FF2B5EF4-FFF2-40B4-BE49-F238E27FC236}">
                <a16:creationId xmlns:a16="http://schemas.microsoft.com/office/drawing/2014/main" id="{5B3C18D8-37B7-DC72-6C22-5B0157D1D686}"/>
              </a:ext>
            </a:extLst>
          </p:cNvPr>
          <p:cNvSpPr txBox="1"/>
          <p:nvPr/>
        </p:nvSpPr>
        <p:spPr>
          <a:xfrm>
            <a:off x="4343400" y="4778858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0">
            <a:extLst>
              <a:ext uri="{FF2B5EF4-FFF2-40B4-BE49-F238E27FC236}">
                <a16:creationId xmlns:a16="http://schemas.microsoft.com/office/drawing/2014/main" id="{7CA34153-7EDB-CB61-CD78-2B3E68EAD019}"/>
              </a:ext>
            </a:extLst>
          </p:cNvPr>
          <p:cNvSpPr txBox="1"/>
          <p:nvPr/>
        </p:nvSpPr>
        <p:spPr>
          <a:xfrm>
            <a:off x="879613" y="1319420"/>
            <a:ext cx="805815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>
            <a:extLst>
              <a:ext uri="{FF2B5EF4-FFF2-40B4-BE49-F238E27FC236}">
                <a16:creationId xmlns:a16="http://schemas.microsoft.com/office/drawing/2014/main" id="{622B7D4D-68A9-925F-8209-190148A0B829}"/>
              </a:ext>
            </a:extLst>
          </p:cNvPr>
          <p:cNvSpPr/>
          <p:nvPr/>
        </p:nvSpPr>
        <p:spPr>
          <a:xfrm>
            <a:off x="724375" y="901025"/>
            <a:ext cx="8321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0650" lvl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7;p27">
            <a:extLst>
              <a:ext uri="{FF2B5EF4-FFF2-40B4-BE49-F238E27FC236}">
                <a16:creationId xmlns:a16="http://schemas.microsoft.com/office/drawing/2014/main" id="{600B30C2-B138-A7D8-4598-64E2A7F87DAE}"/>
              </a:ext>
            </a:extLst>
          </p:cNvPr>
          <p:cNvSpPr/>
          <p:nvPr/>
        </p:nvSpPr>
        <p:spPr>
          <a:xfrm>
            <a:off x="2805567" y="20880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Sequence Diagram</a:t>
            </a:r>
            <a:endParaRPr sz="1100" dirty="0"/>
          </a:p>
        </p:txBody>
      </p:sp>
      <p:sp>
        <p:nvSpPr>
          <p:cNvPr id="3" name="Google Shape;137;p27">
            <a:extLst>
              <a:ext uri="{FF2B5EF4-FFF2-40B4-BE49-F238E27FC236}">
                <a16:creationId xmlns:a16="http://schemas.microsoft.com/office/drawing/2014/main" id="{D9A9D33D-B134-0920-6035-53C20CB5ED76}"/>
              </a:ext>
            </a:extLst>
          </p:cNvPr>
          <p:cNvSpPr/>
          <p:nvPr/>
        </p:nvSpPr>
        <p:spPr>
          <a:xfrm>
            <a:off x="2755054" y="5809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AE96DF-236A-DDD2-F672-F3FE58B31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13" y="690563"/>
            <a:ext cx="78009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9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B318B553-3895-E1D1-69E9-C828AE07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>
            <a:extLst>
              <a:ext uri="{FF2B5EF4-FFF2-40B4-BE49-F238E27FC236}">
                <a16:creationId xmlns:a16="http://schemas.microsoft.com/office/drawing/2014/main" id="{F2FB4384-BF82-C548-F4CA-A7129E4F45C0}"/>
              </a:ext>
            </a:extLst>
          </p:cNvPr>
          <p:cNvSpPr txBox="1"/>
          <p:nvPr/>
        </p:nvSpPr>
        <p:spPr>
          <a:xfrm>
            <a:off x="7143751" y="4786313"/>
            <a:ext cx="516731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100"/>
              <a:buFont typeface="Noto Sans Symbols"/>
              <a:buNone/>
            </a:pPr>
            <a:fld id="{00000000-1234-1234-1234-123412341234}" type="slidenum">
              <a:rPr lang="en-GB" sz="1100" b="0" i="0" u="none" strike="noStrike" cap="none">
                <a:solidFill>
                  <a:srgbClr val="8898C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100" b="0" i="0" u="none" strike="noStrike" cap="none">
              <a:solidFill>
                <a:srgbClr val="8898C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30">
            <a:extLst>
              <a:ext uri="{FF2B5EF4-FFF2-40B4-BE49-F238E27FC236}">
                <a16:creationId xmlns:a16="http://schemas.microsoft.com/office/drawing/2014/main" id="{BB0815BD-F5AA-7076-7CD5-E3702F135714}"/>
              </a:ext>
            </a:extLst>
          </p:cNvPr>
          <p:cNvSpPr txBox="1"/>
          <p:nvPr/>
        </p:nvSpPr>
        <p:spPr>
          <a:xfrm>
            <a:off x="4343400" y="4778858"/>
            <a:ext cx="1543050" cy="242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00" tIns="35100" rIns="67500" bIns="351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C8DA9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30">
            <a:extLst>
              <a:ext uri="{FF2B5EF4-FFF2-40B4-BE49-F238E27FC236}">
                <a16:creationId xmlns:a16="http://schemas.microsoft.com/office/drawing/2014/main" id="{76508606-9E6C-18FA-3510-8C6BA1CC1C34}"/>
              </a:ext>
            </a:extLst>
          </p:cNvPr>
          <p:cNvSpPr txBox="1"/>
          <p:nvPr/>
        </p:nvSpPr>
        <p:spPr>
          <a:xfrm>
            <a:off x="879613" y="1319420"/>
            <a:ext cx="8058150" cy="230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30">
            <a:extLst>
              <a:ext uri="{FF2B5EF4-FFF2-40B4-BE49-F238E27FC236}">
                <a16:creationId xmlns:a16="http://schemas.microsoft.com/office/drawing/2014/main" id="{9369648B-FF9E-5D8C-3BBC-DBB0747D26FE}"/>
              </a:ext>
            </a:extLst>
          </p:cNvPr>
          <p:cNvSpPr/>
          <p:nvPr/>
        </p:nvSpPr>
        <p:spPr>
          <a:xfrm>
            <a:off x="724375" y="901025"/>
            <a:ext cx="8321700" cy="38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120650" lvl="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sz="17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137;p27">
            <a:extLst>
              <a:ext uri="{FF2B5EF4-FFF2-40B4-BE49-F238E27FC236}">
                <a16:creationId xmlns:a16="http://schemas.microsoft.com/office/drawing/2014/main" id="{B52DAA6C-90DA-52E1-0E09-D2C899CE7847}"/>
              </a:ext>
            </a:extLst>
          </p:cNvPr>
          <p:cNvSpPr/>
          <p:nvPr/>
        </p:nvSpPr>
        <p:spPr>
          <a:xfrm>
            <a:off x="2661634" y="926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 dirty="0">
                <a:solidFill>
                  <a:srgbClr val="FF0000"/>
                </a:solidFill>
                <a:latin typeface="Times New Roman"/>
                <a:cs typeface="Times New Roman"/>
                <a:sym typeface="Times New Roman"/>
              </a:rPr>
              <a:t>Activity Diagram</a:t>
            </a:r>
            <a:endParaRPr lang="en-GB" sz="1100" dirty="0"/>
          </a:p>
        </p:txBody>
      </p:sp>
      <p:sp>
        <p:nvSpPr>
          <p:cNvPr id="3" name="Google Shape;137;p27">
            <a:extLst>
              <a:ext uri="{FF2B5EF4-FFF2-40B4-BE49-F238E27FC236}">
                <a16:creationId xmlns:a16="http://schemas.microsoft.com/office/drawing/2014/main" id="{8612324C-AC7E-D96A-7FFE-DFE91A55E3C8}"/>
              </a:ext>
            </a:extLst>
          </p:cNvPr>
          <p:cNvSpPr/>
          <p:nvPr/>
        </p:nvSpPr>
        <p:spPr>
          <a:xfrm>
            <a:off x="2755054" y="580991"/>
            <a:ext cx="4206241" cy="53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775380-F03B-7DE8-7D54-3E31C5CD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3270" y="728319"/>
            <a:ext cx="5222968" cy="4171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1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>
          <a:extLst>
            <a:ext uri="{FF2B5EF4-FFF2-40B4-BE49-F238E27FC236}">
              <a16:creationId xmlns:a16="http://schemas.microsoft.com/office/drawing/2014/main" id="{4F6C7104-FB12-DB4A-B3AC-BDCE707B8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2">
            <a:extLst>
              <a:ext uri="{FF2B5EF4-FFF2-40B4-BE49-F238E27FC236}">
                <a16:creationId xmlns:a16="http://schemas.microsoft.com/office/drawing/2014/main" id="{A1CB0106-5A99-7CF8-4F2F-CC236E3C7CD8}"/>
              </a:ext>
            </a:extLst>
          </p:cNvPr>
          <p:cNvSpPr txBox="1"/>
          <p:nvPr/>
        </p:nvSpPr>
        <p:spPr>
          <a:xfrm>
            <a:off x="1379054" y="238540"/>
            <a:ext cx="7104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UI DESIGN</a:t>
            </a: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102776-3D96-5694-6087-8B980F1C3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420" y="742949"/>
            <a:ext cx="6967826" cy="391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7319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750" y="677140"/>
            <a:ext cx="6702590" cy="4161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4B6C9-199D-BBE5-488C-B229276E9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8" y="521801"/>
            <a:ext cx="8164285" cy="43831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5"/>
          <p:cNvPicPr preferRelativeResize="0"/>
          <p:nvPr/>
        </p:nvPicPr>
        <p:blipFill rotWithShape="1">
          <a:blip r:embed="rId3">
            <a:alphaModFix/>
          </a:blip>
          <a:srcRect b="8884"/>
          <a:stretch/>
        </p:blipFill>
        <p:spPr>
          <a:xfrm>
            <a:off x="1525438" y="675799"/>
            <a:ext cx="6811224" cy="379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/>
          <p:cNvSpPr txBox="1"/>
          <p:nvPr/>
        </p:nvSpPr>
        <p:spPr>
          <a:xfrm>
            <a:off x="1379054" y="238540"/>
            <a:ext cx="7104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EA61FD-0303-3216-3BC4-8D193B266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994" y="990600"/>
            <a:ext cx="7142659" cy="3914360"/>
          </a:xfrm>
          <a:prstGeom prst="rect">
            <a:avLst/>
          </a:prstGeom>
        </p:spPr>
      </p:pic>
      <p:sp>
        <p:nvSpPr>
          <p:cNvPr id="2" name="Google Shape;201;p36">
            <a:extLst>
              <a:ext uri="{FF2B5EF4-FFF2-40B4-BE49-F238E27FC236}">
                <a16:creationId xmlns:a16="http://schemas.microsoft.com/office/drawing/2014/main" id="{1BBB9681-0846-A757-FC79-AC448AD4DABA}"/>
              </a:ext>
            </a:extLst>
          </p:cNvPr>
          <p:cNvSpPr txBox="1"/>
          <p:nvPr/>
        </p:nvSpPr>
        <p:spPr>
          <a:xfrm>
            <a:off x="449036" y="596656"/>
            <a:ext cx="3157568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Sending the Email :</a:t>
            </a:r>
            <a:endParaRPr sz="16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733250C-AC52-3800-135B-6AF9490A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6">
            <a:extLst>
              <a:ext uri="{FF2B5EF4-FFF2-40B4-BE49-F238E27FC236}">
                <a16:creationId xmlns:a16="http://schemas.microsoft.com/office/drawing/2014/main" id="{EBBC390E-520F-6109-289F-ABBDF2B8B00E}"/>
              </a:ext>
            </a:extLst>
          </p:cNvPr>
          <p:cNvSpPr txBox="1"/>
          <p:nvPr/>
        </p:nvSpPr>
        <p:spPr>
          <a:xfrm>
            <a:off x="1379054" y="238540"/>
            <a:ext cx="71040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</a:t>
            </a: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D1C1E-08AD-6AED-3884-F1FAFE33E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920" y="1334384"/>
            <a:ext cx="7949575" cy="3341913"/>
          </a:xfrm>
          <a:prstGeom prst="rect">
            <a:avLst/>
          </a:prstGeom>
        </p:spPr>
      </p:pic>
      <p:sp>
        <p:nvSpPr>
          <p:cNvPr id="2" name="Google Shape;201;p36">
            <a:extLst>
              <a:ext uri="{FF2B5EF4-FFF2-40B4-BE49-F238E27FC236}">
                <a16:creationId xmlns:a16="http://schemas.microsoft.com/office/drawing/2014/main" id="{51CFD8AA-51FF-1CA0-8268-979014858111}"/>
              </a:ext>
            </a:extLst>
          </p:cNvPr>
          <p:cNvSpPr txBox="1"/>
          <p:nvPr/>
        </p:nvSpPr>
        <p:spPr>
          <a:xfrm>
            <a:off x="449036" y="888863"/>
            <a:ext cx="3157568" cy="315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Receiving the Email :</a:t>
            </a:r>
            <a:endParaRPr sz="16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1952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>
            <a:spLocks noGrp="1"/>
          </p:cNvSpPr>
          <p:nvPr>
            <p:ph type="title"/>
          </p:nvPr>
        </p:nvSpPr>
        <p:spPr>
          <a:xfrm>
            <a:off x="3530743" y="2353047"/>
            <a:ext cx="2082514" cy="437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0" bIns="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sz="3000" b="1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506</Words>
  <Application>Microsoft Office PowerPoint</Application>
  <PresentationFormat>On-screen Show (16:9)</PresentationFormat>
  <Paragraphs>109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Consolas</vt:lpstr>
      <vt:lpstr>Noto Sans Symbols</vt:lpstr>
      <vt:lpstr>Segoe WPC</vt:lpstr>
      <vt:lpstr>Times New Roman</vt:lpstr>
      <vt:lpstr>Simple Light</vt:lpstr>
      <vt:lpstr>Flow</vt:lpstr>
      <vt:lpstr>Website for VFC Agro Foods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 B ROHANTH</cp:lastModifiedBy>
  <cp:revision>3</cp:revision>
  <dcterms:modified xsi:type="dcterms:W3CDTF">2026-03-05T09:54:14Z</dcterms:modified>
</cp:coreProperties>
</file>